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 + Q&amp;A. Spend the 5-minute core on the geo-fence event path (F-4/F-5) and edge weights → reroute (F-6), then land on the dashboard (F-7).</a:t>
            </a:r>
          </a:p>
          <a:p>
            <a:r>
              <a:t>Brief changed: Airflow is now BONUS; the demo must end in a consumable output (the web dashboard).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questions don't all want the same database: roll-ups go to the columnar warehouse, reachability / shortest-path go to the graph.</a:t>
            </a:r>
          </a:p>
          <a:p>
            <a:r>
              <a:t>Audience already knows the domain — move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is stable. The only meaningful change since the pitch is the chokepoint sub-graph, which made UC3/UC4 executable.</a:t>
            </a:r>
          </a:p>
          <a:p>
            <a:r>
              <a:t>Star-vs-snowflake rationale: m2-star-vs-snowflake.md.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show the genuinely hard parts: geofencing pings into port-call events, and conditioning real trade indices into route edge weights. Then point the dashboard at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 state machine, not GROUP BY port? An event is temporal — entry, continuous dwell, sustained exit. A naive group-by splits one messy call into five and invents zero-distance legs.</a:t>
            </a:r>
          </a:p>
          <a:p>
            <a:r>
              <a:t>Why circles not polygons? Centroid + radius = one cheap haversine per fix; harbour polygons need a geometry engine for &lt;0.5% gain at this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15 transformation points live: facts defined by business logic — what a port call is, what a voyage leg is, when a schedule delta is even meaningful — all in version-controlled, unit-tested pure functions (tests/test_geofence.py, test_derive.py).</a:t>
            </a:r>
          </a:p>
          <a:p>
            <a:r>
              <a:t>schedule_delta is NULL where no synthetic proforma lane matches — the honest real/synthetic seam; we don't fabricate a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'Where's your route table?' — here. No magic bilateral lane feed exists, so we condition synthetic lanes on three real indices (LSCI, Comtrade, LPI) and document them as priors, never promoted to facts.</a:t>
            </a:r>
          </a:p>
          <a:p>
            <a:r>
              <a:t>Why K_SHORTEST_PATHS not SHORTEST_PATH? A bare shortest-path filters disabled lanes AFTER finding the optimum, so closing the best lane returns empty. K-shortest enumerates by weight; we keep the cheapest path avoiding the closed chokepoint → a genuine +delta detour.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consumable output — the gold layer rendered as a map, not rows in a table. Show the UC3/UC4 page; toggle a closure live.</a:t>
            </a:r>
          </a:p>
          <a:p>
            <a:r>
              <a:t>Live toggle is a 'look, it's real' aside; never required to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warns: I'll ask about one tool, why you picked it, what alternatives. Each tool has a file with a ready answer.</a:t>
            </a:r>
          </a:p>
          <a:p>
            <a:r>
              <a:t>Headline defenses: BigQuery (serverless columnar — star pays off, no cluster), ArangoDB (graph + team expertise/managed cluster), GCS (native landing both BQ &amp; Composer read), star&gt;snowflake (joins cost more than storage on columnar).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we're under $5/mo against a $50 cap. The production number is dominated by always-on compute (Composer + Arango), not storage. The graph stays cheap because we bound it to a defensible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the brief, orchestration is bonus now — but it's done. One conform feeding two parallel loads is the 'one transform, two sinks' contract: that's what guarantees the warehouse and the graph are the same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Ocean Freight Forwarder</a:t>
            </a:r>
          </a:p>
          <a:p>
            <a:r>
              <a:rPr sz="2600" b="1" i="0">
                <a:solidFill>
                  <a:srgbClr val="2EC4B6"/>
                </a:solidFill>
                <a:latin typeface="Calibri"/>
              </a:rPr>
              <a:t>Data Architecture — Final Presentation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Team Grilled Cheesin  —  P.J. Losiewicz · Borna Karimi · Alexander Mohun</a:t>
            </a:r>
          </a:p>
          <a:p>
            <a:r>
              <a:rPr sz="1400" b="0" i="1">
                <a:solidFill>
                  <a:srgbClr val="C4D2E0"/>
                </a:solidFill>
                <a:latin typeface="Calibri"/>
              </a:rPr>
              <a:t>A hybrid BigQuery (OLAP) + ArangoDB (network) architecture — the right store per workload</a:t>
            </a:r>
          </a:p>
          <a:p>
            <a:r>
              <a:rPr sz="1300" b="0" i="0">
                <a:solidFill>
                  <a:srgbClr val="5A6B7B"/>
                </a:solidFill>
                <a:latin typeface="Calibri"/>
              </a:rPr>
              <a:t>MSDS 683 · Data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F-1 · ~30s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Team: Grilled Cheesin — P.J. Losiewicz · Borna Karimi · Alexander Mohun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Domain: end-to-end data architecture for an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ocean freight forwarder / 3PL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Business question: which lanes, ports, and chokepoints put shipments at risk —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and what does a disruption cost in transit time?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Answer: a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hybrid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 analytical layer — right store per workload: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BigQuery star warehouse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 → OLAP questions (UC1 ETA reliability, UC2 congestion)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ArangoDB property graph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 → network questions (UC3 chokepoints, UC4 rerouting)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Shared business keys make the two stores one architecture, not two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Schema — what 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F-2 · ~30s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Core star + graph schema: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unchanged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 since the midterm.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Two date-partitioned, clustered facts (fact_voyage_leg, fact_port_call) + flat conformed dims; graph = 5 vertex + 4 edge collections.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One refinement worth naming: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added the </a:t>
            </a:r>
            <a:r>
              <a:rPr sz="1700" b="1" i="0">
                <a:solidFill>
                  <a:srgbClr val="202A37"/>
                </a:solidFill>
                <a:latin typeface="Calibri"/>
              </a:rPr>
              <a:t>chokepoints vertex + transits_chokepoint edge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 and a lane_key on every route edge,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so a chokepoint closure resolves to the exact route edges that transit it.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That turned UC3/UC4 from a diagram into a query that returns a number.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02A37"/>
                </a:solidFill>
                <a:latin typeface="Calibri"/>
              </a:rPr>
              <a:t>Star over snowflake — still the defended call (columnar: storage cheap, joins are the cost).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pipeline,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F-3 · ~45s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1280160"/>
            <a:ext cx="2205532" cy="105156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RAW SOURCES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AIS · ref · priors · synthetic</a:t>
            </a:r>
          </a:p>
        </p:txBody>
      </p:sp>
      <p:sp>
        <p:nvSpPr>
          <p:cNvPr id="9" name="Chevron 8"/>
          <p:cNvSpPr/>
          <p:nvPr/>
        </p:nvSpPr>
        <p:spPr>
          <a:xfrm>
            <a:off x="2717596" y="1280160"/>
            <a:ext cx="2205532" cy="1051560"/>
          </a:xfrm>
          <a:prstGeom prst="chevron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GCS BRONZE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raw, immutable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Parquet/JSONL</a:t>
            </a:r>
          </a:p>
        </p:txBody>
      </p:sp>
      <p:sp>
        <p:nvSpPr>
          <p:cNvPr id="10" name="Chevron 9"/>
          <p:cNvSpPr/>
          <p:nvPr/>
        </p:nvSpPr>
        <p:spPr>
          <a:xfrm>
            <a:off x="4977993" y="1280160"/>
            <a:ext cx="2205532" cy="1051560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GCS SILVER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conform + DERIVE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geofence · weights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8390" y="1280160"/>
            <a:ext cx="2205532" cy="1051560"/>
          </a:xfrm>
          <a:prstGeom prst="chevron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GOLD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BigQuery star +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ArangoDB graph</a:t>
            </a:r>
          </a:p>
        </p:txBody>
      </p:sp>
      <p:sp>
        <p:nvSpPr>
          <p:cNvPr id="12" name="Chevron 11"/>
          <p:cNvSpPr/>
          <p:nvPr/>
        </p:nvSpPr>
        <p:spPr>
          <a:xfrm>
            <a:off x="9498787" y="1280160"/>
            <a:ext cx="2205532" cy="105156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Next.js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1106424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Today we walk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one real path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 end to end: raw AIS positions → geo-fenced port-calls &amp; voyage-legs → both Gold stores → the dashboard.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B7B"/>
                </a:solidFill>
                <a:latin typeface="Calibri"/>
              </a:rPr>
              <a:t>Representative subset, not full volume: Q1 2024, 4 US ports, ~1.88M AIS position rows.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One transform, two sinks: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 both Gold stores read the *same* conformed Silver — never each other —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so a shared-key metric reconciles between stores by construction.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The hard parts, next: (1) turning lat/lon pings into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events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, (2) turning real trade indices into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edge weights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Transform ① — geo-fencing raw AIS into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F-4 · ~1.5m ·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Input (Bronze): AIS fixes = (resolved IMO, WKB point, timestamp). We never trust the AIS free-text 'destination'.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Geometry: a port fence is a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circle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— in-fence iff haversine_nm(fix, port) ≤ radius. (~10 lines of stdlib math; &lt;0.5% error.)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Event rule (per-vessel state machine, in time order): a port call = enter a fence + dwell ≥ a min threshold.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arrival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= first in-fence fix ·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departure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= last in-fence fix before a *sustained* exit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debounce (2 fixes):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one stray out-ping between in-pings is still 'inside' → boundary jitter = one call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fence switch: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a fix in a *different* fence can't be jitter → close A, open B immediately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02A37"/>
                </a:solidFill>
                <a:latin typeface="Calibri"/>
              </a:rPr>
              <a:t>re-entry coalesce (≤12h):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 drift out &amp; back into the same fence reopens the same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11064240" cy="1325880"/>
          </a:xfrm>
          <a:prstGeom prst="roundRect">
            <a:avLst/>
          </a:prstGeom>
          <a:solidFill>
            <a:srgbClr val="E9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919472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Tunable, documented defaults:  radius = 5 nm  ·  min-dwell = 1 h  ·  debounce = 2 fixes  ·  re-entry gap = 12 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355E"/>
                </a:solidFill>
                <a:latin typeface="Consolas"/>
              </a:rPr>
              <a:t>Outside → enter fence (open) → dwell → out 2× (close) → emit if dwelled.   Source: silver/geofence.py + haversine.py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Transform ② — events → the two real 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F-5 · ~1m ·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silver/derive.py — pure, offline-testable, no I/O: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derive_fact_port_calls → one fact_port_call per call; attaches conformed dim_port centroid (not AIS text), partitions by arrival date, provenance='real'.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derive_voyage_legs → pairs each vessel's consecutive calls A→B into one fact_voyage_leg.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02A37"/>
                </a:solidFill>
                <a:latin typeface="Calibri"/>
              </a:rPr>
              <a:t>Edge-case discipline = business rules: single-call vessel → 0 legs; same-port consecutive calls (origin==dest) → excluded (re-entry, not a transit).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918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4140"/>
                <a:gridCol w="46101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fact_voyage_leg (grain: one inter-port transit)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vessel_imo · origin_unlocode · dest_unlocode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resolved keys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transit_hours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B.arrival − A.departure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distance_nm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haversine over port centroids (great-circle)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schedule_delta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actual − proforma  (NULL if no matching lane)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dt (partition)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origin-departure date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Transform ③ — the edge-weight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F-6 · ~1.5m ·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Route edge weights are **derived from real trade indices** (no free bilateral port-pair feed exists — we condition, never invent):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355E"/>
                </a:solidFill>
                <a:latin typeface="Consolas"/>
              </a:rPr>
              <a:t>Lane plausibility:  lane_weight(A,B) = norm(LSCI[A]) × norm(LSCI[B]) × norm(Comtrade[A→B])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355E"/>
                </a:solidFill>
                <a:latin typeface="Consolas"/>
              </a:rPr>
              <a:t>Reliability/delay:  expected_delay(c) = 72h × (max_LPI − LPI[c]) / (max_LPI − min_LPI)  → seeded lognormal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02A37"/>
                </a:solidFill>
                <a:latin typeface="Calibri"/>
              </a:rPr>
              <a:t>Four route weights: distance_nm (haversine) · transit_time_hours = distance_nm / 18 kn · service_frequency (LSCI) · reliability/expected_delay (LPI)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02A37"/>
                </a:solidFill>
                <a:latin typeface="Calibri"/>
              </a:rPr>
              <a:t>Provenance on weights too: 'real' only when overlaid from observed fact_voyage_leg (US→US); else 'synthetic'.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Then the weight does work — UC4 reroute (K_SHORTEST_PATHS, weighted by transit_time_hours):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43484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4191000"/>
                <a:gridCol w="1844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Baseline  USNYC → CNSHA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A37"/>
                          </a:solidFill>
                          <a:latin typeface="Calibri"/>
                        </a:rPr>
                        <a:t>355.97 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SUEZ closed (disable transiting lanes, re-run)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USNYC → </a:t>
                      </a:r>
                      <a:r>
                        <a:rPr sz="1300" b="1" i="0">
                          <a:solidFill>
                            <a:srgbClr val="202A37"/>
                          </a:solidFill>
                          <a:latin typeface="Calibri"/>
                        </a:rPr>
                        <a:t>USLAX</a:t>
                      </a:r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 → CNSHA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A37"/>
                          </a:solidFill>
                          <a:latin typeface="Calibri"/>
                        </a:rPr>
                        <a:t>432.19 h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Reroute cost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02A37"/>
                          </a:solidFill>
                          <a:latin typeface="Calibri"/>
                        </a:rPr>
                        <a:t>detours via USLAX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02A37"/>
                          </a:solidFill>
                          <a:latin typeface="Calibri"/>
                        </a:rPr>
                        <a:t>+76.22 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End product — the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F-7 · ~1m ·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web/ — Next.js 16, deployed on Vercel. The brief's required 'concrete, consumable output'.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Four pages /uc1–/uc4: UC1/UC2 = KPI tables + trend charts (recharts) off the BigQuery star;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UC3/UC4 = interactive map (deck.gl + MapLibre) — chokepoints, transit share, live reroute path on closure.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Pointed straight at Gold: server components read live BigQuery + ArangoDB; with no creds they fall back to frozen goldens —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so the demo renders from a clean clone and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cannot fail live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. A recorded backup is the belt-and-suspenders.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1064240" cy="1143000"/>
          </a:xfrm>
          <a:prstGeom prst="round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400" b="1" i="0">
                <a:solidFill>
                  <a:srgbClr val="2EC4B6"/>
                </a:solidFill>
                <a:latin typeface="Calibri"/>
              </a:rPr>
              <a:t>The headline a planner reads off the screen:</a:t>
            </a:r>
          </a:p>
          <a:p>
            <a:r>
              <a:rPr sz="1800" b="1" i="0">
                <a:solidFill>
                  <a:srgbClr val="FFFFFF"/>
                </a:solidFill>
                <a:latin typeface="Calibri"/>
              </a:rPr>
              <a:t>“Closing Suez adds +76 hours to New York → Shanghai, rerouting via Los Angeles.”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F-8 · 1–2m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112928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554"/>
                <a:gridCol w="2566554"/>
                <a:gridCol w="615973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Raw + staging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GCS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immutable Bronze + conformed Silver (Parquet/JSONL, dt= partitioned)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OLAP store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BigQuery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star warehouse — UC1/UC2 roll-ups (partition + cluster)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Graph store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ArangoDB</a:t>
                      </a:r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 (managed)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ocean_network graph — UC3/UC4 traversal + K_SHORTEST_PATHS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Orchestration (bonus)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Airflow 3.0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ofa_warehouse DAG: conform → load_bq ∥ load_arango → verify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Transforms / glue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Python 3.11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conform / derive / geofence / conditioning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Tabular + format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pandas + pyarrow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shape dims/facts; columnar Parquet, JSONL for events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Synthetic data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NumPy + Faker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seeded, reproducible delays/volumes/identifiers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Graph driver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python-arango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idempotent UPSERT loader from the same Silver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End product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Next.js + deck.gl + Vercel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the consumable dashboard over live BQ/Arango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5A6B7B"/>
                </a:solidFill>
                <a:latin typeface="Calibri"/>
              </a:rPr>
              <a:t>Per-tool justification + alternatives (for the 'why this / what alternatives' follow-up): docs/deck/tech-stack/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Budget &amp; cost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F-9 · 1–2m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Course-scale today: Q1 2024, 4 ports, ~1.88M AIS rows; graph ≤ ~100K edges. Live guard: **$50/mo GCP budget** w/ 50/90/100% alerts.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112928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554"/>
                <a:gridCol w="2053243"/>
                <a:gridCol w="2737658"/>
                <a:gridCol w="393538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Course-scale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Production (assumptions below)</a:t>
                      </a:r>
                    </a:p>
                  </a:txBody>
                  <a:tcPr marL="73152" marR="54864" marT="18288" marB="18288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GCS storage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bytes landed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&lt;1 GB → ~$0.02/mo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2 TB → ~$40/mo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BigQuery storage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table bytes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&lt;2 GB → ~$0.04/mo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1 TB native → ~$20/mo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BigQuery query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bytes </a:t>
                      </a:r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scanned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~$0 (free tier)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50 TB/mo @ $6.25/TB → ~$310/mo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ArangoDB cluster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instance hrs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team cluster → ~$0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small prod cluster → ~$200–400/mo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Airflow (Composer 3)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env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not always-on → ~$0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always-on small env → ~$300–450/mo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Web (Vercel)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requests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hobby → ~$0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02A37"/>
                          </a:solidFill>
                          <a:latin typeface="Calibri"/>
                        </a:rPr>
                        <a:t>Pro → ~$20/mo</a:t>
                      </a:r>
                    </a:p>
                  </a:txBody>
                  <a:tcPr marL="73152" marR="54864" marT="18288" marB="18288" anchor="ctr">
                    <a:solidFill>
                      <a:srgbClr val="E9EF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≈ $0–5/mo (under $50 cap)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02A37"/>
                          </a:solidFill>
                          <a:latin typeface="Calibri"/>
                        </a:rPr>
                        <a:t>≈ $900–1,250/mo (~$11–15K/yr)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Production assumptions: full global AIS, daily batch loads, ~50 TB/mo scanned, always-on Composer + small Arango cluster.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02A37"/>
                </a:solidFill>
                <a:latin typeface="Calibri"/>
              </a:rPr>
              <a:t>Biggest lever = </a:t>
            </a:r>
            <a:r>
              <a:rPr sz="1300" b="1" i="0">
                <a:solidFill>
                  <a:srgbClr val="202A37"/>
                </a:solidFill>
                <a:latin typeface="Calibri"/>
              </a:rPr>
              <a:t>bytes scanned</a:t>
            </a:r>
            <a:r>
              <a:rPr sz="1300" b="0" i="0">
                <a:solidFill>
                  <a:srgbClr val="202A37"/>
                </a:solidFill>
                <a:latin typeface="Calibri"/>
              </a:rPr>
              <a:t> → which is *why* we partition on dt and cluster on FKs. The physical design IS the cost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326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Bonus — orchestration with Airflow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91640" cy="38404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F-10 · +bonus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0" i="0">
                <a:solidFill>
                  <a:srgbClr val="5A6B7B"/>
                </a:solidFill>
                <a:latin typeface="Calibri"/>
              </a:rPr>
              <a:t>Grilled Cheesin  ·  Ocean Freight Forwarder Data Architecture  ·  MSDS 683 Final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" y="1325880"/>
            <a:ext cx="2724912" cy="1051560"/>
          </a:xfrm>
          <a:prstGeom prst="chevron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stage_conform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build Silver</a:t>
            </a:r>
          </a:p>
        </p:txBody>
      </p:sp>
      <p:sp>
        <p:nvSpPr>
          <p:cNvPr id="9" name="Chevron 8"/>
          <p:cNvSpPr/>
          <p:nvPr/>
        </p:nvSpPr>
        <p:spPr>
          <a:xfrm>
            <a:off x="3328416" y="1325880"/>
            <a:ext cx="2724912" cy="1051560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load_bigquery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GCS → star</a:t>
            </a:r>
          </a:p>
        </p:txBody>
      </p:sp>
      <p:sp>
        <p:nvSpPr>
          <p:cNvPr id="10" name="Chevron 9"/>
          <p:cNvSpPr/>
          <p:nvPr/>
        </p:nvSpPr>
        <p:spPr>
          <a:xfrm>
            <a:off x="6108192" y="1325880"/>
            <a:ext cx="2724912" cy="1051560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load_arango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UPSERT graph</a:t>
            </a:r>
          </a:p>
        </p:txBody>
      </p:sp>
      <p:sp>
        <p:nvSpPr>
          <p:cNvPr id="11" name="Chevron 10"/>
          <p:cNvSpPr/>
          <p:nvPr/>
        </p:nvSpPr>
        <p:spPr>
          <a:xfrm>
            <a:off x="8887968" y="1325880"/>
            <a:ext cx="2724912" cy="1051560"/>
          </a:xfrm>
          <a:prstGeom prst="chevron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2545"/>
                </a:solidFill>
                <a:latin typeface="Calibri"/>
              </a:rPr>
              <a:t>verify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fan-in: counts +</a:t>
            </a:r>
          </a:p>
          <a:p>
            <a:pPr algn="ctr"/>
            <a:r>
              <a:rPr sz="1000" b="0" i="0">
                <a:solidFill>
                  <a:srgbClr val="0B2545"/>
                </a:solidFill>
                <a:latin typeface="Calibri"/>
              </a:rPr>
              <a:t>cross-store + 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106424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Airflow is now bonus — and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we built it.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 The ofa_warehouse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Airflow 3.0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 DAG is the implemented cloud-ETL.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One conform →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two parallel load legs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 (load_bigquery ∥ load_arango) →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fan-in verify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(row counts + cross-store reconcile + live UC3/UC4 anti-degeneracy).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Plain Apache Airflow, </a:t>
            </a:r>
            <a:r>
              <a:rPr sz="1600" b="1" i="0">
                <a:solidFill>
                  <a:srgbClr val="202A37"/>
                </a:solidFill>
                <a:latin typeface="Calibri"/>
              </a:rPr>
              <a:t>Composer-portable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: standard operators only; runs locally via airflow dags test; lifts to Cloud Composer 3 unchanged.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C4B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02A37"/>
                </a:solidFill>
                <a:latin typeface="Calibri"/>
              </a:rPr>
              <a:t>verify fans in on both legs → a half-loaded store can't pass the gate by accident.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